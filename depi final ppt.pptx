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66" r:id="rId14"/>
    <p:sldId id="267" r:id="rId15"/>
    <p:sldId id="268" r:id="rId16"/>
    <p:sldId id="269" r:id="rId17"/>
    <p:sldId id="271" r:id="rId18"/>
    <p:sldId id="270" r:id="rId19"/>
  </p:sldIdLst>
  <p:sldSz cx="12192000" cy="6858000"/>
  <p:notesSz cx="6858000" cy="9144000"/>
  <p:embeddedFontLst>
    <p:embeddedFont>
      <p:font typeface="Roboto Mono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75883-7B07-4FB2-8036-76A2A7260987}" v="237" dt="2025-11-30T20:58:22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7f07c592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ab7f07c59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9119b38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9119b382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b9119b382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9119b38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9119b38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ab9119b382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b9119b38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b9119b382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ab9119b382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b9119b38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b9119b382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ab9119b382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b7f07c592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3ab7f07c59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b7f07c592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3ab7f07c59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b7f07c592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3ab7f07c59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7f07c592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ab7f07c59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3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ctrTitle"/>
          </p:nvPr>
        </p:nvSpPr>
        <p:spPr>
          <a:xfrm>
            <a:off x="2056325" y="1492075"/>
            <a:ext cx="7405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1">
                <a:latin typeface="Arial"/>
                <a:ea typeface="Arial"/>
                <a:cs typeface="Arial"/>
                <a:sym typeface="Arial"/>
              </a:rPr>
              <a:t>Building Management System (BMS) – Real-Time Data Engineering Pipeline</a:t>
            </a:r>
            <a:endParaRPr sz="3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713725" y="35761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Mohamed Ahmed Abdelaziz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12-12-2025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0" name="Google Shape;110;p14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3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4876800" y="1489975"/>
            <a:ext cx="6960000" cy="4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88" b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88" b="1">
                <a:latin typeface="Arial"/>
                <a:ea typeface="Arial"/>
                <a:cs typeface="Arial"/>
                <a:sym typeface="Arial"/>
              </a:rPr>
              <a:t>roblem Description:</a:t>
            </a:r>
            <a:br>
              <a:rPr lang="en-US" sz="2488" b="1">
                <a:latin typeface="Arial"/>
                <a:ea typeface="Arial"/>
                <a:cs typeface="Arial"/>
                <a:sym typeface="Arial"/>
              </a:rPr>
            </a:br>
            <a:r>
              <a:rPr lang="en-US" sz="2488">
                <a:latin typeface="Arial"/>
                <a:ea typeface="Arial"/>
                <a:cs typeface="Arial"/>
                <a:sym typeface="Arial"/>
              </a:rPr>
              <a:t> Buildings generate massive amounts of sensor data (temperature, humidity, CO₂, motion, energy).</a:t>
            </a:r>
            <a:br>
              <a:rPr lang="en-US" sz="2488">
                <a:latin typeface="Arial"/>
                <a:ea typeface="Arial"/>
                <a:cs typeface="Arial"/>
                <a:sym typeface="Arial"/>
              </a:rPr>
            </a:br>
            <a:r>
              <a:rPr lang="en-US" sz="2488">
                <a:latin typeface="Arial"/>
                <a:ea typeface="Arial"/>
                <a:cs typeface="Arial"/>
                <a:sym typeface="Arial"/>
              </a:rPr>
              <a:t> Without a proper pipeline, this data becomes messy, unorganized, and difficult to analyze in real time — causing inefficiency, energy waste, and poor building performance decisions.</a:t>
            </a:r>
            <a:endParaRPr sz="248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19" name="Google Shape;11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888" y="1856097"/>
            <a:ext cx="3914100" cy="314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20" name="Google Shape;120;p15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5">
            <a:alphaModFix/>
          </a:blip>
          <a:srcRect l="45402"/>
          <a:stretch/>
        </p:blipFill>
        <p:spPr>
          <a:xfrm>
            <a:off x="336875" y="1840525"/>
            <a:ext cx="4025999" cy="3145800"/>
          </a:xfrm>
          <a:prstGeom prst="rect">
            <a:avLst/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28000" endPos="28000" dist="5000" dir="5400000" fadeDir="5400012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4617750" y="1365300"/>
            <a:ext cx="7357800" cy="20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Overview of the proposed solution </a:t>
            </a:r>
            <a:br>
              <a:rPr lang="en-US" sz="2300" b="1">
                <a:latin typeface="Arial"/>
                <a:ea typeface="Arial"/>
                <a:cs typeface="Arial"/>
                <a:sym typeface="Arial"/>
              </a:rPr>
            </a:br>
            <a:r>
              <a:rPr lang="en-US" sz="2300">
                <a:latin typeface="Arial"/>
                <a:ea typeface="Arial"/>
                <a:cs typeface="Arial"/>
                <a:sym typeface="Arial"/>
              </a:rPr>
              <a:t> A real-time data pipeline that simulates sensor data → streams it via Kafka → processes it using Spark (batch + streaming) → loads results into </a:t>
            </a: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Apache Pinot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→ visualizes KPIs through </a:t>
            </a: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Superset dashboards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750" y="1856100"/>
            <a:ext cx="3914100" cy="314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fadeDir="5400012" sy="-100000" algn="bl" rotWithShape="0"/>
          </a:effectLst>
        </p:spPr>
      </p:pic>
      <p:pic>
        <p:nvPicPr>
          <p:cNvPr id="131" name="Google Shape;131;p16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 rotWithShape="1">
          <a:blip r:embed="rId5">
            <a:alphaModFix/>
          </a:blip>
          <a:srcRect l="45402"/>
          <a:stretch/>
        </p:blipFill>
        <p:spPr>
          <a:xfrm>
            <a:off x="252750" y="1856100"/>
            <a:ext cx="3914100" cy="3145800"/>
          </a:xfrm>
          <a:prstGeom prst="rect">
            <a:avLst/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28000" endPos="28000" dist="5000" dir="5400000" fadeDir="5400012" sy="-100000" algn="bl" rotWithShape="0"/>
          </a:effectLst>
        </p:spPr>
      </p:pic>
      <p:sp>
        <p:nvSpPr>
          <p:cNvPr id="133" name="Google Shape;133;p16"/>
          <p:cNvSpPr txBox="1"/>
          <p:nvPr/>
        </p:nvSpPr>
        <p:spPr>
          <a:xfrm>
            <a:off x="4617750" y="3429000"/>
            <a:ext cx="7488600" cy="2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</a:rPr>
              <a:t>Unique Value Proposition</a:t>
            </a:r>
            <a:endParaRPr sz="2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Real-time end-to-end data flow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Low-latency analytics with Pinot + Superset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Scalable for streaming and batch workloads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Enables key smart-building insights (energy &amp; air qual</a:t>
            </a:r>
            <a:r>
              <a:rPr lang="en-US" sz="2200">
                <a:solidFill>
                  <a:schemeClr val="dk1"/>
                </a:solidFill>
              </a:rPr>
              <a:t>ity</a:t>
            </a:r>
            <a:endParaRPr sz="3422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3581400" y="1740225"/>
            <a:ext cx="8759700" cy="42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Project Wireframe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Visual representation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Sensor Simulation → Python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Streaming → Kafka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Processing → Spark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Real-Time Analytics → Apache Pinot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Dashboards → Superset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User Journey</a:t>
            </a:r>
            <a:br>
              <a:rPr lang="en-US" sz="2200" b="1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Data generated → streamed → processed → stored → displayed live on dashboards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Focus</a:t>
            </a:r>
            <a:br>
              <a:rPr lang="en-US" sz="2200" b="1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Clear, real-time data flow across all pipeline components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667" y="1833989"/>
            <a:ext cx="2646000" cy="2731200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568"/>
              </a:srgbClr>
            </a:outerShdw>
          </a:effectLst>
        </p:spPr>
      </p:pic>
      <p:sp>
        <p:nvSpPr>
          <p:cNvPr id="143" name="Google Shape;143;p17"/>
          <p:cNvSpPr/>
          <p:nvPr/>
        </p:nvSpPr>
        <p:spPr>
          <a:xfrm rot="5400000">
            <a:off x="-867758" y="4802040"/>
            <a:ext cx="1942800" cy="14691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687" y="1740225"/>
            <a:ext cx="2909775" cy="2918725"/>
          </a:xfrm>
          <a:prstGeom prst="rect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57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>
            <a:spLocks noGrp="1"/>
          </p:cNvSpPr>
          <p:nvPr>
            <p:ph type="title"/>
          </p:nvPr>
        </p:nvSpPr>
        <p:spPr>
          <a:xfrm>
            <a:off x="4923275" y="3429000"/>
            <a:ext cx="70269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12"/>
              <a:buFont typeface="Arial"/>
              <a:buNone/>
            </a:pPr>
            <a:r>
              <a:rPr lang="en-US" sz="2422" b="1">
                <a:latin typeface="Arial"/>
                <a:ea typeface="Arial"/>
                <a:cs typeface="Arial"/>
                <a:sym typeface="Arial"/>
              </a:rPr>
              <a:t>Primary Users:</a:t>
            </a:r>
            <a:endParaRPr sz="2422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12"/>
              <a:buFont typeface="Arial"/>
              <a:buNone/>
            </a:pPr>
            <a:r>
              <a:rPr lang="en-US" sz="2422">
                <a:latin typeface="Arial"/>
                <a:ea typeface="Arial"/>
                <a:cs typeface="Arial"/>
                <a:sym typeface="Arial"/>
              </a:rPr>
              <a:t>-Facility managers &amp; building operators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endParaRPr sz="242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12"/>
              <a:buFont typeface="Arial"/>
              <a:buNone/>
            </a:pPr>
            <a:r>
              <a:rPr lang="en-US" sz="2422" b="1">
                <a:latin typeface="Arial"/>
                <a:ea typeface="Arial"/>
                <a:cs typeface="Arial"/>
                <a:sym typeface="Arial"/>
              </a:rPr>
              <a:t>Key Features</a:t>
            </a:r>
            <a:endParaRPr sz="2422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22">
                <a:latin typeface="Arial"/>
                <a:ea typeface="Arial"/>
                <a:cs typeface="Arial"/>
                <a:sym typeface="Arial"/>
              </a:rPr>
              <a:t>- Real-time sensor monitoring (temp, CO₂, energy, occupancy)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r>
              <a:rPr lang="en-US" sz="2422">
                <a:latin typeface="Arial"/>
                <a:ea typeface="Arial"/>
                <a:cs typeface="Arial"/>
                <a:sym typeface="Arial"/>
              </a:rPr>
              <a:t>- Alerts on abnormal readings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r>
              <a:rPr lang="en-US" sz="2422">
                <a:latin typeface="Arial"/>
                <a:ea typeface="Arial"/>
                <a:cs typeface="Arial"/>
                <a:sym typeface="Arial"/>
              </a:rPr>
              <a:t>- Historical trend analysis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endParaRPr sz="242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412"/>
              <a:buFont typeface="Arial"/>
              <a:buNone/>
            </a:pPr>
            <a:r>
              <a:rPr lang="en-US" sz="2422" b="1">
                <a:latin typeface="Arial"/>
                <a:ea typeface="Arial"/>
                <a:cs typeface="Arial"/>
                <a:sym typeface="Arial"/>
              </a:rPr>
              <a:t>Benefits / Problem Solving</a:t>
            </a:r>
            <a:endParaRPr sz="2422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22">
                <a:latin typeface="Arial"/>
                <a:ea typeface="Arial"/>
                <a:cs typeface="Arial"/>
                <a:sym typeface="Arial"/>
              </a:rPr>
              <a:t>- Faster decisions &amp; energy optimization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r>
              <a:rPr lang="en-US" sz="2422">
                <a:latin typeface="Arial"/>
                <a:ea typeface="Arial"/>
                <a:cs typeface="Arial"/>
                <a:sym typeface="Arial"/>
              </a:rPr>
              <a:t>- Air quality &amp; occupancy insights</a:t>
            </a:r>
            <a:br>
              <a:rPr lang="en-US" sz="2422">
                <a:latin typeface="Arial"/>
                <a:ea typeface="Arial"/>
                <a:cs typeface="Arial"/>
                <a:sym typeface="Arial"/>
              </a:rPr>
            </a:br>
            <a:r>
              <a:rPr lang="en-US" sz="2422">
                <a:latin typeface="Arial"/>
                <a:ea typeface="Arial"/>
                <a:cs typeface="Arial"/>
                <a:sym typeface="Arial"/>
              </a:rPr>
              <a:t>- Prevents inefficiency &amp; waste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313"/>
              </a:srgbClr>
            </a:outerShdw>
          </a:effectLst>
        </p:spPr>
      </p:pic>
      <p:pic>
        <p:nvPicPr>
          <p:cNvPr id="155" name="Google Shape;155;p18" title="downloa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600" y="1932025"/>
            <a:ext cx="4218800" cy="2871475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31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body" idx="1"/>
          </p:nvPr>
        </p:nvSpPr>
        <p:spPr>
          <a:xfrm>
            <a:off x="340950" y="1272075"/>
            <a:ext cx="10918500" cy="23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Database Architecture:</a:t>
            </a: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Apache Pinot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→ columnar tables, optimized for </a:t>
            </a: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real-time OLAP queries</a:t>
            </a: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Trino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→ connects Pinot to Superset for </a:t>
            </a: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low-latency dashboard queries</a:t>
            </a: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Pinot handles </a:t>
            </a: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high-throughput streaming data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, supports aggregation &amp; filtering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Key Entities &amp; Relationships:</a:t>
            </a: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Sensors: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temperature, humidity, CO₂, motion, energy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Readings: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timestamped sensor data, includes sensor ID &amp; value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Relationships: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Sensors → Readings → Dashboards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Optional aggregations: avg, min, max per time window</a:t>
            </a:r>
            <a:endParaRPr sz="2300"/>
          </a:p>
        </p:txBody>
      </p:sp>
      <p:sp>
        <p:nvSpPr>
          <p:cNvPr id="162" name="Google Shape;1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5" name="Google Shape;165;p19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2" name="Google Shape;172;p20" title="WhatsApp Image 2025-11-30 at 12.32.52_e6d27ce3.jpg"/>
          <p:cNvPicPr preferRelativeResize="0"/>
          <p:nvPr/>
        </p:nvPicPr>
        <p:blipFill rotWithShape="1">
          <a:blip r:embed="rId3">
            <a:alphaModFix/>
          </a:blip>
          <a:srcRect t="5503" b="4722"/>
          <a:stretch/>
        </p:blipFill>
        <p:spPr>
          <a:xfrm>
            <a:off x="973488" y="1522925"/>
            <a:ext cx="9846275" cy="434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589625" y="659025"/>
            <a:ext cx="22857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 drop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0" name="Google Shape;180;p21" title="WhatsApp Image 2025-11-30 at 12.32.53_9fdb2c47.jpg"/>
          <p:cNvPicPr preferRelativeResize="0"/>
          <p:nvPr/>
        </p:nvPicPr>
        <p:blipFill rotWithShape="1">
          <a:blip r:embed="rId3">
            <a:alphaModFix/>
          </a:blip>
          <a:srcRect t="6252" b="6783"/>
          <a:stretch/>
        </p:blipFill>
        <p:spPr>
          <a:xfrm>
            <a:off x="785213" y="1402188"/>
            <a:ext cx="10067724" cy="460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4833300" y="459675"/>
            <a:ext cx="12627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>
            <a:spLocks noGrp="1"/>
          </p:cNvSpPr>
          <p:nvPr>
            <p:ph type="title"/>
          </p:nvPr>
        </p:nvSpPr>
        <p:spPr>
          <a:xfrm>
            <a:off x="5074350" y="614750"/>
            <a:ext cx="1158600" cy="620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Pinot</a:t>
            </a:r>
            <a:endParaRPr sz="3400"/>
          </a:p>
        </p:txBody>
      </p:sp>
      <p:sp>
        <p:nvSpPr>
          <p:cNvPr id="188" name="Google Shape;18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89" name="Google Shape;189;p22" title="WhatsApp Image 2025-11-30 at 12.32.54_63ad43a9.jpg"/>
          <p:cNvPicPr preferRelativeResize="0"/>
          <p:nvPr/>
        </p:nvPicPr>
        <p:blipFill rotWithShape="1">
          <a:blip r:embed="rId3">
            <a:alphaModFix/>
          </a:blip>
          <a:srcRect t="5445" b="5720"/>
          <a:stretch/>
        </p:blipFill>
        <p:spPr>
          <a:xfrm>
            <a:off x="1370725" y="1551763"/>
            <a:ext cx="8763874" cy="437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4232600" y="368575"/>
            <a:ext cx="2532000" cy="75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Super Set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97" name="Google Shape;197;p23" title="WhatsApp Image 2025-11-30 at 12.32.50_c73fc07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375" y="1298775"/>
            <a:ext cx="8724570" cy="490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CB66-3829-ACB0-1BE6-3E313FA9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268C1AC5-285C-6EA9-D3CC-E9D9C248B09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8808" b="8808"/>
          <a:stretch/>
        </p:blipFill>
        <p:spPr>
          <a:xfrm>
            <a:off x="-2552" y="126035"/>
            <a:ext cx="12075765" cy="67274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1B062-9A54-5500-6DB7-297A40B57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31FC4-1BFF-4BE7-2EC2-EED6F5ABB9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91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407FC-FB1F-3E21-F84A-8A742D9E9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996696"/>
            <a:ext cx="722376" cy="6035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3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US" sz="3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90D3DCCC-82DE-D3A2-BE84-E52BD58166C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2145" b="2145"/>
          <a:stretch/>
        </p:blipFill>
        <p:spPr>
          <a:xfrm>
            <a:off x="-440" y="5973"/>
            <a:ext cx="12202140" cy="6862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165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435293" y="1124600"/>
            <a:ext cx="10918500" cy="27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Data Flow: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generates real-time sensor data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Sent to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Kafka topic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bms_data</a:t>
            </a:r>
            <a:endParaRPr sz="2300" dirty="0" err="1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74650">
              <a:lnSpc>
                <a:spcPct val="115000"/>
              </a:lnSpc>
              <a:spcBef>
                <a:spcPts val="0"/>
              </a:spcBef>
              <a:buSzPts val="2300"/>
              <a:buAutoNum type="arabicPeriod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Spark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consumes, processes, cleans, aggregates data and send it cleaned to a </a:t>
            </a:r>
            <a:r>
              <a:rPr lang="en-US" sz="2300" dirty="0" err="1">
                <a:latin typeface="Arial"/>
                <a:ea typeface="Arial"/>
                <a:cs typeface="Arial"/>
                <a:sym typeface="Arial"/>
              </a:rPr>
              <a:t>kafka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topic named </a:t>
            </a:r>
            <a:r>
              <a:rPr lang="en-US" sz="2300" dirty="0" err="1">
                <a:latin typeface="Arial"/>
                <a:ea typeface="Arial"/>
                <a:cs typeface="Arial"/>
                <a:sym typeface="Arial"/>
              </a:rPr>
              <a:t>spark_data</a:t>
            </a:r>
            <a:endParaRPr sz="2300" dirty="0" err="1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Processed data stored in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Pinot columnar tables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Trino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queries Pinot →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Superset dashboards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Dashboards show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real-time KPIs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: energy, occupancy, temp, CO₂ trends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Notes: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Fully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streaming pipeline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, no CSV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Handles </a:t>
            </a: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continuous ingestion, processing, and visualization</a:t>
            </a:r>
            <a:endParaRPr lang="en-US" sz="2300" b="1" dirty="0">
              <a:latin typeface="Arial"/>
              <a:ea typeface="Arial"/>
              <a:cs typeface="Arial"/>
            </a:endParaRPr>
          </a:p>
        </p:txBody>
      </p:sp>
      <p:sp>
        <p:nvSpPr>
          <p:cNvPr id="203" name="Google Shape;20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06" name="Google Shape;206;p24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body" idx="1"/>
          </p:nvPr>
        </p:nvSpPr>
        <p:spPr>
          <a:xfrm>
            <a:off x="388104" y="1253836"/>
            <a:ext cx="11421600" cy="4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Main Programming Languages:</a:t>
            </a:r>
            <a:endParaRPr sz="22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data simulation, streaming, processing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queries for Pinot via Trino</a:t>
            </a:r>
            <a:endParaRPr lang="en-US" sz="2200" dirty="0"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Frameworks / Tools:</a:t>
            </a:r>
            <a:endParaRPr sz="22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Apache Kafka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real-time streaming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Apache Spark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batch &amp; streaming processing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Apache Pinot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columnar real-time storage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Trino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query engine connecting Pinot to dashboards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Superset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visualization &amp; dashboards</a:t>
            </a:r>
            <a:br>
              <a:rPr lang="en-US" sz="2200" dirty="0">
                <a:latin typeface="Arial"/>
                <a:ea typeface="Arial"/>
                <a:cs typeface="Arial"/>
              </a:rPr>
            </a:b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Supporting Technologies:</a:t>
            </a:r>
            <a:endParaRPr sz="22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 dirty="0"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lang="en-US" sz="2200" dirty="0">
                <a:latin typeface="Arial"/>
                <a:ea typeface="Arial"/>
                <a:cs typeface="Arial"/>
                <a:sym typeface="Arial"/>
              </a:rPr>
              <a:t> → version control</a:t>
            </a:r>
          </a:p>
          <a:p>
            <a:pPr indent="-368300">
              <a:lnSpc>
                <a:spcPct val="114999"/>
              </a:lnSpc>
              <a:spcBef>
                <a:spcPts val="0"/>
              </a:spcBef>
              <a:buSzPts val="2200"/>
              <a:buFont typeface="Arial"/>
              <a:buChar char="-"/>
            </a:pPr>
            <a:endParaRPr lang="en-US" sz="2200" dirty="0">
              <a:latin typeface="Arial"/>
              <a:cs typeface="Arial"/>
            </a:endParaRPr>
          </a:p>
        </p:txBody>
      </p:sp>
      <p:sp>
        <p:nvSpPr>
          <p:cNvPr id="212" name="Google Shape;212;p25"/>
          <p:cNvSpPr txBox="1">
            <a:spLocks noGrp="1"/>
          </p:cNvSpPr>
          <p:nvPr>
            <p:ph type="dt" idx="10"/>
          </p:nvPr>
        </p:nvSpPr>
        <p:spPr>
          <a:xfrm>
            <a:off x="2143450" y="8261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13" name="Google Shape;213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15" name="Google Shape;215;p25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617375" y="62903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10/14/24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body" idx="1"/>
          </p:nvPr>
        </p:nvSpPr>
        <p:spPr>
          <a:xfrm>
            <a:off x="528300" y="1015675"/>
            <a:ext cx="11135400" cy="22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Current State: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Pipeline fully functional in </a:t>
            </a: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beta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Data flows: Python → Kafka → Spark → Pinot → Superset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Dashboards display real-time KPIs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Testing Phases: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Unit Testing: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Spark processing functions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Integration Testing: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Kafka + Spark + Pinot + Superset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-"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Functional Testing: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Dashboards show accurate, real-time KPIs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Feedback / QA: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Dashboards responsive, KPIs correct , Low-latency updates  , Minor adjustments on aggregation windows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 txBox="1">
            <a:spLocks noGrp="1"/>
          </p:cNvSpPr>
          <p:nvPr>
            <p:ph type="dt" idx="10"/>
          </p:nvPr>
        </p:nvSpPr>
        <p:spPr>
          <a:xfrm>
            <a:off x="2143450" y="8261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25" name="Google Shape;225;p26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683800" y="63233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10/14/24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528300" y="621575"/>
            <a:ext cx="11135400" cy="397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Team Members &amp; Roles: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indent="-374650">
              <a:lnSpc>
                <a:spcPct val="115000"/>
              </a:lnSpc>
              <a:spcBef>
                <a:spcPts val="1200"/>
              </a:spcBef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Mohamed Ahmed: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Team leader / Data Engineer → pipeline architecture &amp; planning and data generation</a:t>
            </a:r>
            <a:endParaRPr lang="en-US" sz="2300" dirty="0">
              <a:latin typeface="Arial"/>
              <a:ea typeface="Arial"/>
              <a:cs typeface="Arial"/>
            </a:endParaRPr>
          </a:p>
          <a:p>
            <a:pPr indent="-374650">
              <a:lnSpc>
                <a:spcPct val="115000"/>
              </a:lnSpc>
              <a:spcBef>
                <a:spcPts val="0"/>
              </a:spcBef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Hanin Mohamed: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Streaming →operating Kafka topics via docker 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Rodina Amr: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Data Processing → Spark batch &amp; streaming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Youssef Tamer: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Database → Pinot setup &amp; performance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Ganna Ehab: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Visualization → Superset dashboards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Mohamed Ibrahim:</a:t>
            </a: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 Documentation &amp; QA → testing &amp; report writing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Collaboration Methods: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Agile methodology, regular team meetings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Tools: GitHub, VS Code, Slack/Teams for communication</a:t>
            </a:r>
            <a:br>
              <a:rPr lang="en-US" sz="2000" dirty="0">
                <a:latin typeface="Arial"/>
                <a:ea typeface="Arial"/>
                <a:cs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 txBox="1">
            <a:spLocks noGrp="1"/>
          </p:cNvSpPr>
          <p:nvPr>
            <p:ph type="dt" idx="10"/>
          </p:nvPr>
        </p:nvSpPr>
        <p:spPr>
          <a:xfrm>
            <a:off x="2143450" y="8261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35" name="Google Shape;235;p27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/>
          <p:nvPr/>
        </p:nvSpPr>
        <p:spPr>
          <a:xfrm>
            <a:off x="668390" y="634606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10/14/24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6B02-915B-1269-00F6-7AA500A6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828"/>
            <a:ext cx="10515600" cy="1325563"/>
          </a:xfrm>
        </p:spPr>
        <p:txBody>
          <a:bodyPr/>
          <a:lstStyle/>
          <a:p>
            <a:pPr marL="571500" indent="-571500">
              <a:buFont typeface="Arial"/>
              <a:buChar char="•"/>
            </a:pPr>
            <a:r>
              <a:rPr lang="en-US" dirty="0"/>
              <a:t>Notes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FB308-4CB0-6321-C29E-5EFC6C4AC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9750" indent="-457200">
              <a:lnSpc>
                <a:spcPct val="114999"/>
              </a:lnSpc>
              <a:spcBef>
                <a:spcPts val="0"/>
              </a:spcBef>
            </a:pPr>
            <a:r>
              <a:rPr lang="en-US" sz="2400" dirty="0"/>
              <a:t>We used </a:t>
            </a:r>
            <a:r>
              <a:rPr lang="en-US" sz="2400" dirty="0" err="1"/>
              <a:t>Tailscale</a:t>
            </a:r>
            <a:r>
              <a:rPr lang="en-US" sz="2400" dirty="0"/>
              <a:t> </a:t>
            </a:r>
            <a:r>
              <a:rPr lang="en-US" sz="2400" dirty="0" err="1"/>
              <a:t>vpn</a:t>
            </a:r>
            <a:r>
              <a:rPr lang="en-US" sz="2400" dirty="0"/>
              <a:t> that provides a secure, private network layer that allows all components of our project to connect seamlessly across machines and environments without exposing any services to the public internet.</a:t>
            </a:r>
            <a:endParaRPr lang="en-US" sz="2400"/>
          </a:p>
          <a:p>
            <a:pPr marL="539750" indent="-457200">
              <a:lnSpc>
                <a:spcPct val="114999"/>
              </a:lnSpc>
              <a:spcBef>
                <a:spcPts val="0"/>
              </a:spcBef>
            </a:pPr>
            <a:r>
              <a:rPr lang="en-US" sz="2400" dirty="0"/>
              <a:t>The project required using a large number of Bash commands to install, configure, and integrate all system components.</a:t>
            </a:r>
          </a:p>
          <a:p>
            <a:pPr marL="539750" indent="-457200">
              <a:lnSpc>
                <a:spcPct val="114999"/>
              </a:lnSpc>
              <a:spcBef>
                <a:spcPts val="0"/>
              </a:spcBef>
            </a:pPr>
            <a:endParaRPr lang="en-US" sz="2400" dirty="0"/>
          </a:p>
          <a:p>
            <a:pPr marL="539750" indent="-457200">
              <a:lnSpc>
                <a:spcPct val="114999"/>
              </a:lnSpc>
              <a:spcBef>
                <a:spcPts val="0"/>
              </a:spcBef>
            </a:pPr>
            <a:r>
              <a:rPr lang="en-US" sz="2400" dirty="0"/>
              <a:t>Each team member didn’t just complete their own tasks, but also contributed to other parts of the project to ensure everything worked smoothly.</a:t>
            </a:r>
          </a:p>
          <a:p>
            <a:pPr marL="571500" indent="-457200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A3F5B-96EA-3CFE-6A27-444837C763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5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>
            <a:spLocks noGrp="1"/>
          </p:cNvSpPr>
          <p:nvPr>
            <p:ph type="body" idx="1"/>
          </p:nvPr>
        </p:nvSpPr>
        <p:spPr>
          <a:xfrm>
            <a:off x="528300" y="826175"/>
            <a:ext cx="111354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                                                       </a:t>
            </a:r>
            <a:r>
              <a:rPr lang="en-US" sz="3300" b="1" dirty="0">
                <a:latin typeface="Arial"/>
                <a:ea typeface="Arial"/>
                <a:cs typeface="Arial"/>
                <a:sym typeface="Arial"/>
              </a:rPr>
              <a:t>Thank You</a:t>
            </a:r>
            <a:endParaRPr sz="33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Contact Information: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indent="-374650">
              <a:lnSpc>
                <a:spcPct val="115000"/>
              </a:lnSpc>
              <a:spcBef>
                <a:spcPts val="1200"/>
              </a:spcBef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Team GitHub Repository: https://</a:t>
            </a:r>
            <a:r>
              <a:rPr lang="en-US" sz="2300" dirty="0">
                <a:sym typeface="Arial"/>
              </a:rPr>
              <a:t>github.com/MAAbdelaziz22/DEPI_Project</a:t>
            </a:r>
            <a:endParaRPr lang="en-US" sz="2300"/>
          </a:p>
          <a:p>
            <a:pPr marL="914400" indent="0">
              <a:lnSpc>
                <a:spcPct val="115000"/>
              </a:lnSpc>
              <a:spcBef>
                <a:spcPts val="1200"/>
              </a:spcBef>
              <a:buNone/>
            </a:pPr>
            <a:endParaRPr lang="en-US"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latin typeface="Arial"/>
                <a:ea typeface="Arial"/>
                <a:cs typeface="Arial"/>
                <a:sym typeface="Arial"/>
              </a:rPr>
              <a:t>Questions &amp; Feedback:</a:t>
            </a:r>
            <a:endParaRPr sz="23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Open for any questions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-"/>
            </a:pPr>
            <a:r>
              <a:rPr lang="en-US" sz="2300" dirty="0">
                <a:latin typeface="Arial"/>
                <a:ea typeface="Arial"/>
                <a:cs typeface="Arial"/>
                <a:sym typeface="Arial"/>
              </a:rPr>
              <a:t>Feedback is welcome to improve the pipeline and dashboards</a:t>
            </a:r>
            <a:br>
              <a:rPr lang="en-US" sz="2300" dirty="0">
                <a:latin typeface="Arial"/>
                <a:ea typeface="Arial"/>
                <a:cs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2300" b="1" dirty="0">
              <a:latin typeface="Arial"/>
              <a:ea typeface="Arial"/>
              <a:cs typeface="Arial"/>
            </a:endParaRPr>
          </a:p>
        </p:txBody>
      </p:sp>
      <p:sp>
        <p:nvSpPr>
          <p:cNvPr id="242" name="Google Shape;242;p28"/>
          <p:cNvSpPr txBox="1">
            <a:spLocks noGrp="1"/>
          </p:cNvSpPr>
          <p:nvPr>
            <p:ph type="dt" idx="10"/>
          </p:nvPr>
        </p:nvSpPr>
        <p:spPr>
          <a:xfrm>
            <a:off x="2143450" y="8261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bms data</a:t>
            </a:r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45" name="Google Shape;245;p28" title="downloa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/>
        </p:nvSpPr>
        <p:spPr>
          <a:xfrm>
            <a:off x="880350" y="63233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10/14/24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Building Management System (BMS) – Real-Time Data Engineering Pipeline </vt:lpstr>
      <vt:lpstr>Problem Description:  Buildings generate massive amounts of sensor data (temperature, humidity, CO₂, motion, energy).  Without a proper pipeline, this data becomes messy, unorganized, and difficult to analyze in real time — causing inefficiency, energy waste, and poor building performance decisions. </vt:lpstr>
      <vt:lpstr>Overview of the proposed solution   A real-time data pipeline that simulates sensor data → streams it via Kafka → processes it using Spark (batch + streaming) → loads results into Apache Pinot → visualizes KPIs through Superset dashboards. </vt:lpstr>
      <vt:lpstr>Project Wireframe Visual representation Sensor Simulation → Python Streaming → Kafka Processing → Spark Real-Time Analytics → Apache Pinot Dashboards → Superset User Journey  Data generated → streamed → processed → stored → displayed live on dashboards Focus Clear, real-time data flow across all pipeline components </vt:lpstr>
      <vt:lpstr>Primary Users: -Facility managers &amp; building operators  Key Features - Real-time sensor monitoring (temp, CO₂, energy, occupancy) - Alerts on abnormal readings - Historical trend analysis  Benefits / Problem Solving - Faster decisions &amp; energy optimization - Air quality &amp; occupancy insights - Prevents inefficiency &amp; waste  </vt:lpstr>
      <vt:lpstr>PowerPoint Presentation</vt:lpstr>
      <vt:lpstr>PowerPoint Presentation</vt:lpstr>
      <vt:lpstr>PowerPoint Presentation</vt:lpstr>
      <vt:lpstr>Pinot</vt:lpstr>
      <vt:lpstr>   Super 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76</cp:revision>
  <dcterms:modified xsi:type="dcterms:W3CDTF">2025-11-30T20:59:57Z</dcterms:modified>
</cp:coreProperties>
</file>